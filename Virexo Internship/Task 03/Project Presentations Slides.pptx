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embeddedFontLst>
    <p:embeddedFont>
      <p:font typeface="Libre Franklin Black"/>
      <p:regular r:id="rId201314"/>
    </p:embeddedFont>
    <p:embeddedFont>
      <p:font typeface="Libre Franklin Bold"/>
      <p:regular r:id="rId201315"/>
    </p:embeddedFont>
    <p:embeddedFont>
      <p:font typeface="Libre Franklin"/>
      <p:regular r:id="rId201316"/>
    </p:embeddedFont>
    <p:embeddedFont>
      <p:font typeface="Libre Franklin Medium"/>
      <p:regular r:id="rId201317"/>
    </p:embeddedFont>
    <p:embeddedFont>
      <p:font typeface="Libre Franklin SemiBold"/>
      <p:regular r:id="rId201318"/>
    </p:embeddedFont>
    <p:embeddedFont>
      <p:font typeface="Playfair Display"/>
      <p:regular r:id="rId201319"/>
    </p:embeddedFont>
    <p:embeddedFont>
      <p:font typeface="Playfair Display Medium"/>
      <p:regular r:id="rId201320"/>
    </p:embeddedFont>
    <p:embeddedFont>
      <p:font typeface="Playfair Display SemiBold"/>
      <p:regular r:id="rId201321"/>
    </p:embeddedFont>
    <p:embeddedFont>
      <p:font typeface="Playfair Display Bold"/>
      <p:regular r:id="rId201322"/>
    </p:embeddedFont>
    <p:embeddedFont>
      <p:font typeface="Playfair Display Black"/>
      <p:regular r:id="rId201323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Relationship Id="rId201326" Target="fonts/201326.fntdata" Type="http://schemas.openxmlformats.org/officeDocument/2006/relationships/font"/><Relationship Id="rId201327" Target="fonts/201327.fntdata" Type="http://schemas.openxmlformats.org/officeDocument/2006/relationships/font"/><Relationship Id="rId201328" Target="fonts/201328.fntdata" Type="http://schemas.openxmlformats.org/officeDocument/2006/relationships/font"/><Relationship Id="rId201329" Target="fonts/201329.fntdata" Type="http://schemas.openxmlformats.org/officeDocument/2006/relationships/font"/><Relationship Id="rId201330" Target="fonts/201330.fntdata" Type="http://schemas.openxmlformats.org/officeDocument/2006/relationships/font"/><Relationship Id="rId201331" Target="fonts/201331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A3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35144" cy="6858000"/>
          </a:xfrm>
          <a:custGeom>
            <a:avLst/>
            <a:gdLst/>
            <a:ahLst/>
            <a:cxnLst/>
            <a:rect l="l" t="t" r="r" b="b"/>
            <a:pathLst>
              <a:path w="2235144" h="6858000">
                <a:moveTo>
                  <a:pt x="22228" y="0"/>
                </a:moveTo>
                <a:lnTo>
                  <a:pt x="2235144" y="0"/>
                </a:lnTo>
                <a:lnTo>
                  <a:pt x="2235144" y="6858000"/>
                </a:lnTo>
                <a:lnTo>
                  <a:pt x="22228" y="6858000"/>
                </a:lnTo>
                <a:arcTo hR="22229" wR="22228" stAng="5400000" swAng="5400000"/>
                <a:lnTo>
                  <a:pt x="0" y="22229"/>
                </a:lnTo>
                <a:arcTo hR="22229" wR="22228" stAng="10800000" swAng="5400000"/>
                <a:close/>
              </a:path>
            </a:pathLst>
          </a:custGeom>
          <a:solidFill>
            <a:srgbClr val="1A2544"/>
          </a:solidFill>
          <a:ln/>
        </p:spPr>
      </p:sp>
      <p:sp>
        <p:nvSpPr>
          <p:cNvPr id="3" name="Text 1"/>
          <p:cNvSpPr/>
          <p:nvPr/>
        </p:nvSpPr>
        <p:spPr>
          <a:xfrm>
            <a:off x="330192" y="431800"/>
            <a:ext cx="1574761" cy="426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50" spc="105" kern="0" dirty="0">
                <a:solidFill>
                  <a:srgbClr val="CBD2E2"/>
                </a:solidFill>
                <a:latin typeface="Libre Franklin SemiBold" pitchFamily="34" charset="0"/>
                <a:ea typeface="Libre Franklin SemiBold" pitchFamily="34" charset="-122"/>
                <a:cs typeface="Libre Franklin SemiBold" pitchFamily="34" charset="-120"/>
              </a:rPr>
              <a:t>MODEL EVALUATION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30192" y="931466"/>
            <a:ext cx="1574761" cy="651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5400" dirty="0">
                <a:solidFill>
                  <a:srgbClr val="C9A468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01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330192" y="4895850"/>
            <a:ext cx="1574761" cy="1530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spc="21" kern="0" dirty="0">
                <a:solidFill>
                  <a:srgbClr val="CBD2E2"/>
                </a:solidFill>
                <a:latin typeface="Libre Franklin SemiBold" pitchFamily="34" charset="0"/>
                <a:ea typeface="Libre Franklin SemiBold" pitchFamily="34" charset="-122"/>
                <a:cs typeface="Libre Franklin SemiBold" pitchFamily="34" charset="-120"/>
              </a:rPr>
              <a:t>04</a:t>
            </a:r>
            <a:endParaRPr lang="en-US" sz="1050" dirty="0"/>
          </a:p>
          <a:p>
            <a:pPr algn="l" indent="0" marL="0">
              <a:lnSpc>
                <a:spcPct val="125000"/>
              </a:lnSpc>
              <a:spcAft>
                <a:spcPts val="1250"/>
              </a:spcAft>
              <a:buNone/>
            </a:pPr>
            <a:r>
              <a:rPr lang="en-US" sz="1050" spc="21" kern="0" dirty="0">
                <a:solidFill>
                  <a:srgbClr val="CBD2E2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measurements</a:t>
            </a:r>
            <a:endParaRPr lang="en-US" sz="10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050" spc="21" kern="0" dirty="0">
                <a:solidFill>
                  <a:srgbClr val="CBD2E2"/>
                </a:solidFill>
                <a:latin typeface="Libre Franklin SemiBold" pitchFamily="34" charset="0"/>
                <a:ea typeface="Libre Franklin SemiBold" pitchFamily="34" charset="-122"/>
                <a:cs typeface="Libre Franklin SemiBold" pitchFamily="34" charset="-120"/>
              </a:rPr>
              <a:t>02</a:t>
            </a:r>
            <a:endParaRPr lang="en-US" sz="1050" dirty="0"/>
          </a:p>
          <a:p>
            <a:pPr algn="l" indent="0" marL="0">
              <a:lnSpc>
                <a:spcPct val="125000"/>
              </a:lnSpc>
              <a:spcAft>
                <a:spcPts val="1250"/>
              </a:spcAft>
              <a:buNone/>
            </a:pPr>
            <a:r>
              <a:rPr lang="en-US" sz="1050" spc="21" kern="0" dirty="0">
                <a:solidFill>
                  <a:srgbClr val="CBD2E2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classifiers</a:t>
            </a:r>
            <a:endParaRPr lang="en-US" sz="10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050" spc="21" kern="0" dirty="0">
                <a:solidFill>
                  <a:srgbClr val="CBD2E2"/>
                </a:solidFill>
                <a:latin typeface="Libre Franklin SemiBold" pitchFamily="34" charset="0"/>
                <a:ea typeface="Libre Franklin SemiBold" pitchFamily="34" charset="-122"/>
                <a:cs typeface="Libre Franklin SemiBold" pitchFamily="34" charset="-120"/>
              </a:rPr>
              <a:t>01</a:t>
            </a:r>
            <a:endParaRPr lang="en-US" sz="10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050" spc="21" kern="0" dirty="0">
                <a:solidFill>
                  <a:srgbClr val="CBD2E2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dashboard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844729" y="609600"/>
            <a:ext cx="9346966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50" spc="105" kern="0" dirty="0">
                <a:solidFill>
                  <a:srgbClr val="9CAED8"/>
                </a:solidFill>
                <a:latin typeface="Libre Franklin SemiBold" pitchFamily="34" charset="0"/>
                <a:ea typeface="Libre Franklin SemiBold" pitchFamily="34" charset="-122"/>
                <a:cs typeface="Libre Franklin SemiBold" pitchFamily="34" charset="-120"/>
              </a:rPr>
              <a:t>APPLIED MACHINE LEARNING · IRIS DATASET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844729" y="2484834"/>
            <a:ext cx="8381790" cy="21654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2000"/>
              </a:lnSpc>
              <a:buNone/>
            </a:pPr>
            <a:r>
              <a:rPr lang="en-US" sz="5800" dirty="0">
                <a:solidFill>
                  <a:srgbClr val="F1EFE6"/>
                </a:solidFill>
                <a:latin typeface="Playfair Display Medium" pitchFamily="34" charset="0"/>
                <a:ea typeface="Playfair Display Medium" pitchFamily="34" charset="-122"/>
                <a:cs typeface="Playfair Display Medium" pitchFamily="34" charset="-120"/>
              </a:rPr>
              <a:t>Iris Flower Classification &amp; Model Evaluation Dashboard</a:t>
            </a:r>
            <a:endParaRPr lang="en-US" sz="5800" dirty="0"/>
          </a:p>
        </p:txBody>
      </p:sp>
      <p:sp>
        <p:nvSpPr>
          <p:cNvPr id="8" name="Shape 6"/>
          <p:cNvSpPr/>
          <p:nvPr/>
        </p:nvSpPr>
        <p:spPr>
          <a:xfrm>
            <a:off x="2844729" y="4989909"/>
            <a:ext cx="63498" cy="19050"/>
          </a:xfrm>
          <a:prstGeom prst="roundRect">
            <a:avLst>
              <a:gd name="adj" fmla="val 49999"/>
            </a:avLst>
          </a:prstGeom>
          <a:solidFill>
            <a:srgbClr val="C9A468"/>
          </a:solidFill>
          <a:ln/>
        </p:spPr>
      </p:sp>
      <p:sp>
        <p:nvSpPr>
          <p:cNvPr id="9" name="Text 7"/>
          <p:cNvSpPr/>
          <p:nvPr/>
        </p:nvSpPr>
        <p:spPr>
          <a:xfrm>
            <a:off x="2844729" y="5342334"/>
            <a:ext cx="5968851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CBD2E2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A compact comparison of preprocessing, model choice, class-balanced metrics, and hands-on verification.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844729" y="6048375"/>
            <a:ext cx="9346966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spc="21" kern="0" dirty="0">
                <a:solidFill>
                  <a:srgbClr val="AAB5CB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Technical learning dashboard · Evidence-led evaluation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228794" y="0"/>
            <a:ext cx="12700" cy="6858000"/>
          </a:xfrm>
          <a:prstGeom prst="rect">
            <a:avLst/>
          </a:prstGeom>
          <a:solidFill>
            <a:srgbClr val="2D3A5E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50" spc="105" kern="0" dirty="0">
                <a:solidFill>
                  <a:srgbClr val="9CAED8"/>
                </a:solidFill>
                <a:latin typeface="Libre Franklin SemiBold" pitchFamily="34" charset="0"/>
                <a:ea typeface="Libre Franklin SemiBold" pitchFamily="34" charset="-122"/>
                <a:cs typeface="Libre Franklin SemiBold" pitchFamily="34" charset="-120"/>
              </a:rPr>
              <a:t>WORKFLOW · FROM DATA TO DECISION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895945"/>
            <a:ext cx="7873803" cy="1023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600" dirty="0">
                <a:solidFill>
                  <a:srgbClr val="F1EFE6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One small dataset becomes a live model comparison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09585" y="2222698"/>
            <a:ext cx="63498" cy="38100"/>
          </a:xfrm>
          <a:prstGeom prst="roundRect">
            <a:avLst>
              <a:gd name="adj" fmla="val 49999"/>
            </a:avLst>
          </a:prstGeom>
          <a:solidFill>
            <a:srgbClr val="C9A468"/>
          </a:solidFill>
          <a:ln/>
        </p:spPr>
      </p:sp>
      <p:sp>
        <p:nvSpPr>
          <p:cNvPr id="5" name="Text 3"/>
          <p:cNvSpPr/>
          <p:nvPr/>
        </p:nvSpPr>
        <p:spPr>
          <a:xfrm>
            <a:off x="609585" y="3417094"/>
            <a:ext cx="822106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dirty="0">
                <a:solidFill>
                  <a:srgbClr val="9CAED8"/>
                </a:solidFill>
                <a:latin typeface="Libre Franklin SemiBold" pitchFamily="34" charset="0"/>
                <a:ea typeface="Libre Franklin SemiBold" pitchFamily="34" charset="-122"/>
                <a:cs typeface="Libre Franklin SemiBold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99902" y="3379787"/>
            <a:ext cx="11191793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F1EFE6"/>
                </a:solidFill>
                <a:latin typeface="Libre Franklin SemiBold" pitchFamily="34" charset="0"/>
                <a:ea typeface="Libre Franklin SemiBold" pitchFamily="34" charset="-122"/>
                <a:cs typeface="Libre Franklin SemiBold" pitchFamily="34" charset="-120"/>
              </a:rPr>
              <a:t>Load.</a:t>
            </a:r>
            <a:pPr algn="l"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CBD2E2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 Fisher’s Iris dataset with four numerical measurements.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09585" y="4025106"/>
            <a:ext cx="845918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dirty="0">
                <a:solidFill>
                  <a:srgbClr val="9CAED8"/>
                </a:solidFill>
                <a:latin typeface="Libre Franklin SemiBold" pitchFamily="34" charset="0"/>
                <a:ea typeface="Libre Franklin SemiBold" pitchFamily="34" charset="-122"/>
                <a:cs typeface="Libre Franklin SemiBold" pitchFamily="34" charset="-120"/>
              </a:rPr>
              <a:t>02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23713" y="3987800"/>
            <a:ext cx="11167982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F1EFE6"/>
                </a:solidFill>
                <a:latin typeface="Libre Franklin SemiBold" pitchFamily="34" charset="0"/>
                <a:ea typeface="Libre Franklin SemiBold" pitchFamily="34" charset="-122"/>
                <a:cs typeface="Libre Franklin SemiBold" pitchFamily="34" charset="-120"/>
              </a:rPr>
              <a:t>Prepare.</a:t>
            </a:r>
            <a:pPr algn="l"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CBD2E2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 Map species labels, stratify an 80/20 train-test split, then standardize features.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09585" y="4633119"/>
            <a:ext cx="851276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dirty="0">
                <a:solidFill>
                  <a:srgbClr val="9CAED8"/>
                </a:solidFill>
                <a:latin typeface="Libre Franklin SemiBold" pitchFamily="34" charset="0"/>
                <a:ea typeface="Libre Franklin SemiBold" pitchFamily="34" charset="-122"/>
                <a:cs typeface="Libre Franklin SemiBold" pitchFamily="34" charset="-120"/>
              </a:rPr>
              <a:t>03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29071" y="4595813"/>
            <a:ext cx="11162624" cy="258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F1EFE6"/>
                </a:solidFill>
                <a:latin typeface="Libre Franklin SemiBold" pitchFamily="34" charset="0"/>
                <a:ea typeface="Libre Franklin SemiBold" pitchFamily="34" charset="-122"/>
                <a:cs typeface="Libre Franklin SemiBold" pitchFamily="34" charset="-120"/>
              </a:rPr>
              <a:t>Train.</a:t>
            </a:r>
            <a:pPr algn="l"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CBD2E2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 Fit </a:t>
            </a:r>
            <a:pPr algn="l"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CBD2E2"/>
                </a:solidFill>
                <a:highlight>
                  <a:srgbClr val="1A2544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LogisticRegression</a:t>
            </a:r>
            <a:pPr algn="l"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CBD2E2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 and </a:t>
            </a:r>
            <a:pPr algn="l"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CBD2E2"/>
                </a:solidFill>
                <a:highlight>
                  <a:srgbClr val="1A2544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RandomForestClassifier</a:t>
            </a:r>
            <a:pPr algn="l"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CBD2E2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 in scikit-learn.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09585" y="5247481"/>
            <a:ext cx="854252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dirty="0">
                <a:solidFill>
                  <a:srgbClr val="9CAED8"/>
                </a:solidFill>
                <a:latin typeface="Libre Franklin SemiBold" pitchFamily="34" charset="0"/>
                <a:ea typeface="Libre Franklin SemiBold" pitchFamily="34" charset="-122"/>
                <a:cs typeface="Libre Franklin SemiBold" pitchFamily="34" charset="-120"/>
              </a:rPr>
              <a:t>04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32048" y="5210175"/>
            <a:ext cx="11159647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F1EFE6"/>
                </a:solidFill>
                <a:latin typeface="Libre Franklin SemiBold" pitchFamily="34" charset="0"/>
                <a:ea typeface="Libre Franklin SemiBold" pitchFamily="34" charset="-122"/>
                <a:cs typeface="Libre Franklin SemiBold" pitchFamily="34" charset="-120"/>
              </a:rPr>
              <a:t>Evaluate.</a:t>
            </a:r>
            <a:pPr algn="l"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CBD2E2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 Compare accuracy, macro precision, macro recall, macro F1, and confusion matrices.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09585" y="5855494"/>
            <a:ext cx="85326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dirty="0">
                <a:solidFill>
                  <a:srgbClr val="9CAED8"/>
                </a:solidFill>
                <a:latin typeface="Libre Franklin SemiBold" pitchFamily="34" charset="0"/>
                <a:ea typeface="Libre Franklin SemiBold" pitchFamily="34" charset="-122"/>
                <a:cs typeface="Libre Franklin SemiBold" pitchFamily="34" charset="-120"/>
              </a:rPr>
              <a:t>05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31055" y="5818188"/>
            <a:ext cx="11160640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F1EFE6"/>
                </a:solidFill>
                <a:latin typeface="Libre Franklin SemiBold" pitchFamily="34" charset="0"/>
                <a:ea typeface="Libre Franklin SemiBold" pitchFamily="34" charset="-122"/>
                <a:cs typeface="Libre Franklin SemiBold" pitchFamily="34" charset="-120"/>
              </a:rPr>
              <a:t>Interact.</a:t>
            </a:r>
            <a:pPr algn="l"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CBD2E2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 Select a held-out row in Streamlit and verify the prediction in real time.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09585" y="3803650"/>
            <a:ext cx="10972526" cy="12700"/>
          </a:xfrm>
          <a:prstGeom prst="rect">
            <a:avLst/>
          </a:prstGeom>
          <a:solidFill>
            <a:srgbClr val="2D3A5E"/>
          </a:solidFill>
          <a:ln/>
        </p:spPr>
      </p:sp>
      <p:sp>
        <p:nvSpPr>
          <p:cNvPr id="16" name="Shape 14"/>
          <p:cNvSpPr/>
          <p:nvPr/>
        </p:nvSpPr>
        <p:spPr>
          <a:xfrm>
            <a:off x="609585" y="4411663"/>
            <a:ext cx="10972526" cy="12700"/>
          </a:xfrm>
          <a:prstGeom prst="rect">
            <a:avLst/>
          </a:prstGeom>
          <a:solidFill>
            <a:srgbClr val="2D3A5E"/>
          </a:solidFill>
          <a:ln/>
        </p:spPr>
      </p:sp>
      <p:sp>
        <p:nvSpPr>
          <p:cNvPr id="17" name="Shape 15"/>
          <p:cNvSpPr/>
          <p:nvPr/>
        </p:nvSpPr>
        <p:spPr>
          <a:xfrm>
            <a:off x="609585" y="5026025"/>
            <a:ext cx="10972526" cy="12700"/>
          </a:xfrm>
          <a:prstGeom prst="rect">
            <a:avLst/>
          </a:prstGeom>
          <a:solidFill>
            <a:srgbClr val="2D3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609585" y="5634038"/>
            <a:ext cx="10972526" cy="12700"/>
          </a:xfrm>
          <a:prstGeom prst="rect">
            <a:avLst/>
          </a:prstGeom>
          <a:solidFill>
            <a:srgbClr val="2D3A5E"/>
          </a:solidFill>
          <a:ln/>
        </p:spPr>
      </p:sp>
      <p:sp>
        <p:nvSpPr>
          <p:cNvPr id="19" name="Text 17"/>
          <p:cNvSpPr/>
          <p:nvPr/>
        </p:nvSpPr>
        <p:spPr>
          <a:xfrm>
            <a:off x="609585" y="6472039"/>
            <a:ext cx="2947616" cy="16222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900" spc="108" kern="0" dirty="0">
                <a:solidFill>
                  <a:srgbClr val="9BA8C2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CALDER &amp; VOSS RESEARCH · FY26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171057" y="6472039"/>
            <a:ext cx="1020638" cy="16222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900" spc="108" kern="0" dirty="0">
                <a:solidFill>
                  <a:srgbClr val="9CAED8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50" spc="105" kern="0" dirty="0">
                <a:solidFill>
                  <a:srgbClr val="9CAED8"/>
                </a:solidFill>
                <a:latin typeface="Libre Franklin SemiBold" pitchFamily="34" charset="0"/>
                <a:ea typeface="Libre Franklin SemiBold" pitchFamily="34" charset="-122"/>
                <a:cs typeface="Libre Franklin SemiBold" pitchFamily="34" charset="-120"/>
              </a:rPr>
              <a:t>INPUTS · LABELS · SPLIT · SCALING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895945"/>
            <a:ext cx="10972526" cy="540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800" dirty="0">
                <a:solidFill>
                  <a:srgbClr val="F1EFE6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Four measurements carry the signal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09585" y="1620540"/>
            <a:ext cx="11582110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CBD2E2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The dashboard keeps the data contract visible before any model score appears.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09585" y="2156718"/>
            <a:ext cx="63498" cy="19050"/>
          </a:xfrm>
          <a:prstGeom prst="roundRect">
            <a:avLst>
              <a:gd name="adj" fmla="val 49999"/>
            </a:avLst>
          </a:prstGeom>
          <a:solidFill>
            <a:srgbClr val="C9A46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182" y="2674243"/>
            <a:ext cx="507987" cy="5080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09585" y="3461643"/>
            <a:ext cx="2514537" cy="241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1700" dirty="0">
                <a:solidFill>
                  <a:srgbClr val="F1EFE6"/>
                </a:solidFill>
                <a:latin typeface="Libre Franklin SemiBold" pitchFamily="34" charset="0"/>
                <a:ea typeface="Libre Franklin SemiBold" pitchFamily="34" charset="-122"/>
                <a:cs typeface="Libre Franklin SemiBold" pitchFamily="34" charset="-120"/>
              </a:rPr>
              <a:t>Features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09585" y="3836789"/>
            <a:ext cx="2514537" cy="4867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CBD2E2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Sepal length, sepal width, petal length, petal width.</a:t>
            </a:r>
            <a:endParaRPr lang="en-US" sz="13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2908" y="2674243"/>
            <a:ext cx="507987" cy="5080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581310" y="3461643"/>
            <a:ext cx="2285943" cy="241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1700" dirty="0">
                <a:solidFill>
                  <a:srgbClr val="F1EFE6"/>
                </a:solidFill>
                <a:latin typeface="Libre Franklin SemiBold" pitchFamily="34" charset="0"/>
                <a:ea typeface="Libre Franklin SemiBold" pitchFamily="34" charset="-122"/>
                <a:cs typeface="Libre Franklin SemiBold" pitchFamily="34" charset="-120"/>
              </a:rPr>
              <a:t>Target mapping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3581310" y="3836789"/>
            <a:ext cx="2285943" cy="7301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CBD2E2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The three Iris species become the multi-class label space.</a:t>
            </a:r>
            <a:endParaRPr lang="en-US" sz="13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6039" y="2674243"/>
            <a:ext cx="507987" cy="5080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324442" y="3461643"/>
            <a:ext cx="2285943" cy="241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1700" dirty="0">
                <a:solidFill>
                  <a:srgbClr val="F1EFE6"/>
                </a:solidFill>
                <a:latin typeface="Libre Franklin SemiBold" pitchFamily="34" charset="0"/>
                <a:ea typeface="Libre Franklin SemiBold" pitchFamily="34" charset="-122"/>
                <a:cs typeface="Libre Franklin SemiBold" pitchFamily="34" charset="-120"/>
              </a:rPr>
              <a:t>Split</a:t>
            </a:r>
            <a:endParaRPr lang="en-US" sz="1700" dirty="0"/>
          </a:p>
        </p:txBody>
      </p:sp>
      <p:sp>
        <p:nvSpPr>
          <p:cNvPr id="14" name="Text 9"/>
          <p:cNvSpPr/>
          <p:nvPr/>
        </p:nvSpPr>
        <p:spPr>
          <a:xfrm>
            <a:off x="6324442" y="3836789"/>
            <a:ext cx="2285943" cy="4867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CBD2E2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An 80/20 stratified partition preserves class proportions.</a:t>
            </a:r>
            <a:endParaRPr lang="en-US" sz="13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69171" y="2674243"/>
            <a:ext cx="507987" cy="5080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9067573" y="3461643"/>
            <a:ext cx="2514537" cy="241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1700" dirty="0">
                <a:solidFill>
                  <a:srgbClr val="F1EFE6"/>
                </a:solidFill>
                <a:latin typeface="Libre Franklin SemiBold" pitchFamily="34" charset="0"/>
                <a:ea typeface="Libre Franklin SemiBold" pitchFamily="34" charset="-122"/>
                <a:cs typeface="Libre Franklin SemiBold" pitchFamily="34" charset="-120"/>
              </a:rPr>
              <a:t>Scaling</a:t>
            </a:r>
            <a:endParaRPr lang="en-US" sz="1700" dirty="0"/>
          </a:p>
        </p:txBody>
      </p:sp>
      <p:sp>
        <p:nvSpPr>
          <p:cNvPr id="17" name="Text 11"/>
          <p:cNvSpPr/>
          <p:nvPr/>
        </p:nvSpPr>
        <p:spPr>
          <a:xfrm>
            <a:off x="9067573" y="3836789"/>
            <a:ext cx="2514537" cy="7365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CBD2E2"/>
                </a:solidFill>
                <a:highlight>
                  <a:srgbClr val="1A2544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StandardScaler</a:t>
            </a:r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CBD2E2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 centers and scales features for the linear model.</a:t>
            </a:r>
            <a:endParaRPr lang="en-US" sz="1350" dirty="0"/>
          </a:p>
        </p:txBody>
      </p:sp>
      <p:sp>
        <p:nvSpPr>
          <p:cNvPr id="18" name="Shape 12"/>
          <p:cNvSpPr/>
          <p:nvPr/>
        </p:nvSpPr>
        <p:spPr>
          <a:xfrm>
            <a:off x="3346366" y="2572643"/>
            <a:ext cx="12700" cy="2000647"/>
          </a:xfrm>
          <a:prstGeom prst="rect">
            <a:avLst/>
          </a:prstGeom>
          <a:solidFill>
            <a:srgbClr val="2D3A5E"/>
          </a:solidFill>
          <a:ln/>
        </p:spPr>
      </p:sp>
      <p:sp>
        <p:nvSpPr>
          <p:cNvPr id="19" name="Shape 13"/>
          <p:cNvSpPr/>
          <p:nvPr/>
        </p:nvSpPr>
        <p:spPr>
          <a:xfrm>
            <a:off x="6089498" y="2572643"/>
            <a:ext cx="12700" cy="2000647"/>
          </a:xfrm>
          <a:prstGeom prst="rect">
            <a:avLst/>
          </a:prstGeom>
          <a:solidFill>
            <a:srgbClr val="2D3A5E"/>
          </a:solidFill>
          <a:ln/>
        </p:spPr>
      </p:sp>
      <p:sp>
        <p:nvSpPr>
          <p:cNvPr id="20" name="Shape 14"/>
          <p:cNvSpPr/>
          <p:nvPr/>
        </p:nvSpPr>
        <p:spPr>
          <a:xfrm>
            <a:off x="8832629" y="2572643"/>
            <a:ext cx="12700" cy="2000647"/>
          </a:xfrm>
          <a:prstGeom prst="rect">
            <a:avLst/>
          </a:prstGeom>
          <a:solidFill>
            <a:srgbClr val="2D3A5E"/>
          </a:solidFill>
          <a:ln/>
        </p:spPr>
      </p:sp>
      <p:sp>
        <p:nvSpPr>
          <p:cNvPr id="21" name="Text 15"/>
          <p:cNvSpPr/>
          <p:nvPr/>
        </p:nvSpPr>
        <p:spPr>
          <a:xfrm>
            <a:off x="609585" y="6472039"/>
            <a:ext cx="2947616" cy="16222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900" spc="108" kern="0" dirty="0">
                <a:solidFill>
                  <a:srgbClr val="9BA8C2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CALDER &amp; VOSS RESEARCH · FY26</a:t>
            </a:r>
            <a:endParaRPr lang="en-US" sz="900" dirty="0"/>
          </a:p>
        </p:txBody>
      </p:sp>
      <p:sp>
        <p:nvSpPr>
          <p:cNvPr id="22" name="Text 16"/>
          <p:cNvSpPr/>
          <p:nvPr/>
        </p:nvSpPr>
        <p:spPr>
          <a:xfrm>
            <a:off x="11166989" y="6472039"/>
            <a:ext cx="1024706" cy="16222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900" spc="108" kern="0" dirty="0">
                <a:solidFill>
                  <a:srgbClr val="9CAED8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89" y="533400"/>
            <a:ext cx="7061023" cy="210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spc="105" kern="0" dirty="0">
                <a:solidFill>
                  <a:srgbClr val="CBD2E2"/>
                </a:solidFill>
                <a:latin typeface="Libre Franklin SemiBold" pitchFamily="34" charset="0"/>
                <a:ea typeface="Libre Franklin SemiBold" pitchFamily="34" charset="-122"/>
                <a:cs typeface="Libre Franklin SemiBold" pitchFamily="34" charset="-120"/>
              </a:rPr>
              <a:t>MODEL PAIR · SAME HELD-OUT ROWS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31789" y="817066"/>
            <a:ext cx="6451439" cy="967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400" dirty="0">
                <a:solidFill>
                  <a:srgbClr val="F1EFE6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Two decision styles, one evaluation contract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31789" y="1968401"/>
            <a:ext cx="6451439" cy="5617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400" dirty="0">
                <a:solidFill>
                  <a:srgbClr val="CBD2E2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The comparison is meaningful because preprocessing, the split, and the evaluation rows stay fixed.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31789" y="2739727"/>
            <a:ext cx="63498" cy="19050"/>
          </a:xfrm>
          <a:prstGeom prst="roundRect">
            <a:avLst>
              <a:gd name="adj" fmla="val 49999"/>
            </a:avLst>
          </a:prstGeom>
          <a:solidFill>
            <a:srgbClr val="C9A468"/>
          </a:solidFill>
          <a:ln/>
        </p:spPr>
      </p:sp>
      <p:sp>
        <p:nvSpPr>
          <p:cNvPr id="6" name="Text 4"/>
          <p:cNvSpPr/>
          <p:nvPr/>
        </p:nvSpPr>
        <p:spPr>
          <a:xfrm>
            <a:off x="431789" y="2968327"/>
            <a:ext cx="6451439" cy="5617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400" b="1" dirty="0">
                <a:solidFill>
                  <a:srgbClr val="CBD2E2"/>
                </a:solidFill>
                <a:latin typeface="Libre Franklin Bold" pitchFamily="34" charset="0"/>
                <a:ea typeface="Libre Franklin Bold" pitchFamily="34" charset="-122"/>
                <a:cs typeface="Libre Franklin Bold" pitchFamily="34" charset="-120"/>
              </a:rPr>
              <a:t>Fair comparison.</a:t>
            </a:r>
            <a:pPr algn="l" indent="0" marL="0">
              <a:lnSpc>
                <a:spcPct val="132000"/>
              </a:lnSpc>
              <a:buNone/>
            </a:pPr>
            <a:r>
              <a:rPr lang="en-US" sz="1400" dirty="0">
                <a:solidFill>
                  <a:srgbClr val="CBD2E2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 Both models train on the same stratified split and are judged on the same held-out test set.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017" y="762000"/>
            <a:ext cx="4394090" cy="341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2400" dirty="0">
                <a:solidFill>
                  <a:srgbClr val="F1EFE6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Linear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315017" y="1236663"/>
            <a:ext cx="4876678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400" b="1" dirty="0">
                <a:solidFill>
                  <a:srgbClr val="CBD2E2"/>
                </a:solidFill>
                <a:latin typeface="Libre Franklin Bold" pitchFamily="34" charset="0"/>
                <a:ea typeface="Libre Franklin Bold" pitchFamily="34" charset="-122"/>
                <a:cs typeface="Libre Franklin Bold" pitchFamily="34" charset="-120"/>
              </a:rPr>
              <a:t>LogisticRegression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017" y="1654175"/>
            <a:ext cx="439409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spc="21" kern="0" dirty="0">
                <a:solidFill>
                  <a:srgbClr val="AAB5CB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Scaled features · linear multi-class boundaries · </a:t>
            </a:r>
            <a:pPr algn="l" indent="0" marL="0">
              <a:lnSpc>
                <a:spcPct val="125000"/>
              </a:lnSpc>
              <a:buNone/>
            </a:pPr>
            <a:r>
              <a:rPr lang="en-US" sz="1050" spc="21" kern="0" dirty="0">
                <a:solidFill>
                  <a:srgbClr val="CBD2E2"/>
                </a:solidFill>
                <a:highlight>
                  <a:srgbClr val="1A2544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max_iter=5000</a:t>
            </a:r>
            <a:pPr algn="l" indent="0" marL="0">
              <a:lnSpc>
                <a:spcPct val="125000"/>
              </a:lnSpc>
              <a:buNone/>
            </a:pPr>
            <a:r>
              <a:rPr lang="en-US" sz="1050" spc="21" kern="0" dirty="0">
                <a:solidFill>
                  <a:srgbClr val="AAB5CB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 for stable convergence.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017" y="3683000"/>
            <a:ext cx="4394090" cy="341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2400" dirty="0">
                <a:solidFill>
                  <a:srgbClr val="F1EFE6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Ensemble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7315017" y="4157662"/>
            <a:ext cx="4876678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400" b="1" dirty="0">
                <a:solidFill>
                  <a:srgbClr val="CBD2E2"/>
                </a:solidFill>
                <a:latin typeface="Libre Franklin Bold" pitchFamily="34" charset="0"/>
                <a:ea typeface="Libre Franklin Bold" pitchFamily="34" charset="-122"/>
                <a:cs typeface="Libre Franklin Bold" pitchFamily="34" charset="-120"/>
              </a:rPr>
              <a:t>RandomForestClassifier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017" y="4575175"/>
            <a:ext cx="439409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spc="21" kern="0" dirty="0">
                <a:solidFill>
                  <a:srgbClr val="AAB5CB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300 decision trees · non-linear feature interactions without manual boundary design.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315017" y="3448050"/>
            <a:ext cx="4394090" cy="12700"/>
          </a:xfrm>
          <a:prstGeom prst="rect">
            <a:avLst/>
          </a:prstGeom>
          <a:solidFill>
            <a:srgbClr val="2D3A5E"/>
          </a:solidFill>
          <a:ln/>
        </p:spPr>
      </p:sp>
      <p:sp>
        <p:nvSpPr>
          <p:cNvPr id="14" name="Text 12"/>
          <p:cNvSpPr/>
          <p:nvPr/>
        </p:nvSpPr>
        <p:spPr>
          <a:xfrm>
            <a:off x="609585" y="6472039"/>
            <a:ext cx="2947616" cy="16222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900" spc="108" kern="0" dirty="0">
                <a:solidFill>
                  <a:srgbClr val="9BA8C2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CALDER &amp; VOSS RESEARCH · FY26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165600" y="6472039"/>
            <a:ext cx="1026095" cy="16222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900" spc="108" kern="0" dirty="0">
                <a:solidFill>
                  <a:srgbClr val="9CAED8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50" spc="105" kern="0" dirty="0">
                <a:solidFill>
                  <a:srgbClr val="9CAED8"/>
                </a:solidFill>
                <a:latin typeface="Libre Franklin SemiBold" pitchFamily="34" charset="0"/>
                <a:ea typeface="Libre Franklin SemiBold" pitchFamily="34" charset="-122"/>
                <a:cs typeface="Libre Franklin SemiBold" pitchFamily="34" charset="-120"/>
              </a:rPr>
              <a:t>EVALUATION SURFACE · METRICS AND CLASS BEHAVIOR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895945"/>
            <a:ext cx="10972526" cy="483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400" dirty="0">
                <a:solidFill>
                  <a:srgbClr val="F1EFE6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Score the whole label space, not just the average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09585" y="1563688"/>
            <a:ext cx="11582110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CBD2E2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A dashboard result should make trade-offs inspectable, not compress them into one headline number.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585" y="1993900"/>
          <a:ext cx="9143771" cy="914400"/>
        </p:xfrm>
        <a:graphic>
          <a:graphicData uri="http://schemas.openxmlformats.org/drawingml/2006/table">
            <a:tbl>
              <a:tblPr/>
              <a:tblGrid>
                <a:gridCol w="2413956"/>
                <a:gridCol w="1865329"/>
                <a:gridCol w="1865329"/>
                <a:gridCol w="4827911"/>
              </a:tblGrid>
              <a:tr h="4242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spc="105" kern="0" dirty="0">
                          <a:solidFill>
                            <a:srgbClr val="9CAED8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METRIC</a:t>
                      </a:r>
                      <a:endParaRPr lang="en-US" sz="105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25399" marR="152396" marT="114297" marB="114297" anchor="ctr">
                    <a:lnL w="12700" cap="flat" cmpd="sng" algn="ctr">
                      <a:solidFill>
                        <a:srgbClr val="111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spc="105" kern="0" dirty="0">
                          <a:solidFill>
                            <a:srgbClr val="9CAED8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LOGISTICREGRESSION</a:t>
                      </a:r>
                      <a:endParaRPr lang="en-US" sz="105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25399" marR="152396" marT="114297" marB="114297" anchor="ctr">
                    <a:lnL w="12700" cap="flat" cmpd="sng" algn="ctr">
                      <a:solidFill>
                        <a:srgbClr val="111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spc="105" kern="0" dirty="0">
                          <a:solidFill>
                            <a:srgbClr val="9CAED8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RANDOMFORESTCLASSIFIER</a:t>
                      </a:r>
                      <a:endParaRPr lang="en-US" sz="105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25399" marR="152396" marT="114297" marB="114297" anchor="ctr">
                    <a:lnL w="12700" cap="flat" cmpd="sng" algn="ctr">
                      <a:solidFill>
                        <a:srgbClr val="111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spc="105" kern="0" dirty="0">
                          <a:solidFill>
                            <a:srgbClr val="9CAED8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WHY IT MATTERS</a:t>
                      </a:r>
                      <a:endParaRPr lang="en-US" sz="105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25399" marR="152396" marT="114297" marB="114297" anchor="ctr">
                    <a:lnL w="12700" cap="flat" cmpd="sng" algn="ctr">
                      <a:solidFill>
                        <a:srgbClr val="111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30"/>
                    </a:solidFill>
                  </a:tcPr>
                </a:tc>
              </a:tr>
              <a:tr h="4873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CBD2E2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Accuracy</a:t>
                      </a:r>
                      <a:endParaRPr lang="en-US" sz="14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25399" marR="152396" marT="114297" marB="114297" anchor="ctr">
                    <a:lnL w="12700" cap="flat" cmpd="sng" algn="ctr">
                      <a:solidFill>
                        <a:srgbClr val="111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CBD2E2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Dashboard result</a:t>
                      </a:r>
                      <a:endParaRPr lang="en-US" sz="14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25399" marR="152396" marT="114297" marB="114297" anchor="ctr">
                    <a:lnL w="12700" cap="flat" cmpd="sng" algn="ctr">
                      <a:solidFill>
                        <a:srgbClr val="111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CBD2E2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Dashboard result</a:t>
                      </a:r>
                      <a:endParaRPr lang="en-US" sz="14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25399" marR="152396" marT="114297" marB="114297" anchor="ctr">
                    <a:lnL w="12700" cap="flat" cmpd="sng" algn="ctr">
                      <a:solidFill>
                        <a:srgbClr val="111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CBD2E2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Overall correctness</a:t>
                      </a:r>
                      <a:endParaRPr lang="en-US" sz="14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25399" marR="152396" marT="114297" marB="114297" anchor="ctr">
                    <a:lnL w="12700" cap="flat" cmpd="sng" algn="ctr">
                      <a:solidFill>
                        <a:srgbClr val="111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30"/>
                    </a:solidFill>
                  </a:tcPr>
                </a:tc>
              </a:tr>
              <a:tr h="4873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CBD2E2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Macro precision</a:t>
                      </a:r>
                      <a:endParaRPr lang="en-US" sz="14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25399" marR="152396" marT="114297" marB="114297" anchor="ctr">
                    <a:lnL w="12700" cap="flat" cmpd="sng" algn="ctr">
                      <a:solidFill>
                        <a:srgbClr val="111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CBD2E2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Dashboard result</a:t>
                      </a:r>
                      <a:endParaRPr lang="en-US" sz="14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25399" marR="152396" marT="114297" marB="114297" anchor="ctr">
                    <a:lnL w="12700" cap="flat" cmpd="sng" algn="ctr">
                      <a:solidFill>
                        <a:srgbClr val="111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CBD2E2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Dashboard result</a:t>
                      </a:r>
                      <a:endParaRPr lang="en-US" sz="14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25399" marR="152396" marT="114297" marB="114297" anchor="ctr">
                    <a:lnL w="12700" cap="flat" cmpd="sng" algn="ctr">
                      <a:solidFill>
                        <a:srgbClr val="111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CBD2E2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Equal weight per species</a:t>
                      </a:r>
                      <a:endParaRPr lang="en-US" sz="14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25399" marR="152396" marT="114297" marB="114297" anchor="ctr">
                    <a:lnL w="12700" cap="flat" cmpd="sng" algn="ctr">
                      <a:solidFill>
                        <a:srgbClr val="111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30"/>
                    </a:solidFill>
                  </a:tcPr>
                </a:tc>
              </a:tr>
              <a:tr h="4873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CBD2E2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Macro recall</a:t>
                      </a:r>
                      <a:endParaRPr lang="en-US" sz="14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25399" marR="152396" marT="114297" marB="114297" anchor="ctr">
                    <a:lnL w="12700" cap="flat" cmpd="sng" algn="ctr">
                      <a:solidFill>
                        <a:srgbClr val="111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CBD2E2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Dashboard result</a:t>
                      </a:r>
                      <a:endParaRPr lang="en-US" sz="14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25399" marR="152396" marT="114297" marB="114297" anchor="ctr">
                    <a:lnL w="12700" cap="flat" cmpd="sng" algn="ctr">
                      <a:solidFill>
                        <a:srgbClr val="111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CBD2E2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Dashboard result</a:t>
                      </a:r>
                      <a:endParaRPr lang="en-US" sz="14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25399" marR="152396" marT="114297" marB="114297" anchor="ctr">
                    <a:lnL w="12700" cap="flat" cmpd="sng" algn="ctr">
                      <a:solidFill>
                        <a:srgbClr val="111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CBD2E2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Coverage per species</a:t>
                      </a:r>
                      <a:endParaRPr lang="en-US" sz="14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25399" marR="152396" marT="114297" marB="114297" anchor="ctr">
                    <a:lnL w="12700" cap="flat" cmpd="sng" algn="ctr">
                      <a:solidFill>
                        <a:srgbClr val="111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30"/>
                    </a:solidFill>
                  </a:tcPr>
                </a:tc>
              </a:tr>
              <a:tr h="4873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CBD2E2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Macro F1</a:t>
                      </a:r>
                      <a:endParaRPr lang="en-US" sz="14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25399" marR="152396" marT="114297" marB="114297" anchor="ctr">
                    <a:lnL w="12700" cap="flat" cmpd="sng" algn="ctr">
                      <a:solidFill>
                        <a:srgbClr val="111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CBD2E2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Dashboard result</a:t>
                      </a:r>
                      <a:endParaRPr lang="en-US" sz="14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25399" marR="152396" marT="114297" marB="114297" anchor="ctr">
                    <a:lnL w="12700" cap="flat" cmpd="sng" algn="ctr">
                      <a:solidFill>
                        <a:srgbClr val="111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CBD2E2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Dashboard result</a:t>
                      </a:r>
                      <a:endParaRPr lang="en-US" sz="14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25399" marR="152396" marT="114297" marB="114297" anchor="ctr">
                    <a:lnL w="12700" cap="flat" cmpd="sng" algn="ctr">
                      <a:solidFill>
                        <a:srgbClr val="111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CBD2E2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Balanced precision-recall signal</a:t>
                      </a:r>
                      <a:endParaRPr lang="en-US" sz="14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25399" marR="152396" marT="114297" marB="114297" anchor="ctr">
                    <a:lnL w="12700" cap="flat" cmpd="sng" algn="ctr">
                      <a:solidFill>
                        <a:srgbClr val="111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30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09585" y="4532709"/>
            <a:ext cx="1158211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spc="21" kern="0" dirty="0">
                <a:solidFill>
                  <a:srgbClr val="AAB5CB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Confusion matrices complement the table: rows are true labels, columns are predictions, so class-specific confusion remains visible.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609585" y="6472039"/>
            <a:ext cx="2947616" cy="16222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900" spc="108" kern="0" dirty="0">
                <a:solidFill>
                  <a:srgbClr val="9BA8C2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CALDER &amp; VOSS RESEARCH · FY26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165600" y="6472039"/>
            <a:ext cx="1026095" cy="16222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900" spc="108" kern="0" dirty="0">
                <a:solidFill>
                  <a:srgbClr val="9CAED8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7721407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50" spc="105" kern="0" dirty="0">
                <a:solidFill>
                  <a:srgbClr val="9CAED8"/>
                </a:solidFill>
                <a:latin typeface="Libre Franklin SemiBold" pitchFamily="34" charset="0"/>
                <a:ea typeface="Libre Franklin SemiBold" pitchFamily="34" charset="-122"/>
                <a:cs typeface="Libre Franklin SemiBold" pitchFamily="34" charset="-120"/>
              </a:rPr>
              <a:t>SELECTION RULE · INSPECT THE BOUNDARY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895945"/>
            <a:ext cx="7111822" cy="10808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800" dirty="0">
                <a:solidFill>
                  <a:srgbClr val="F1EFE6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Let macro F1 decide, then inspect the errors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09585" y="2406948"/>
            <a:ext cx="7111822" cy="9585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7400" spc="-259" kern="0" dirty="0">
                <a:solidFill>
                  <a:srgbClr val="9CAED8"/>
                </a:solidFill>
                <a:latin typeface="Playfair Display Medium" pitchFamily="34" charset="0"/>
                <a:ea typeface="Playfair Display Medium" pitchFamily="34" charset="-122"/>
                <a:cs typeface="Playfair Display Medium" pitchFamily="34" charset="-120"/>
              </a:rPr>
              <a:t>F1</a:t>
            </a:r>
            <a:endParaRPr lang="en-US" sz="7400" dirty="0"/>
          </a:p>
        </p:txBody>
      </p:sp>
      <p:sp>
        <p:nvSpPr>
          <p:cNvPr id="5" name="Text 3"/>
          <p:cNvSpPr/>
          <p:nvPr/>
        </p:nvSpPr>
        <p:spPr>
          <a:xfrm>
            <a:off x="609585" y="3549650"/>
            <a:ext cx="7111822" cy="577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600" b="1" dirty="0">
                <a:solidFill>
                  <a:srgbClr val="CBD2E2"/>
                </a:solidFill>
                <a:latin typeface="Libre Franklin Bold" pitchFamily="34" charset="0"/>
                <a:ea typeface="Libre Franklin Bold" pitchFamily="34" charset="-122"/>
                <a:cs typeface="Libre Franklin Bold" pitchFamily="34" charset="-120"/>
              </a:rPr>
              <a:t>Primary selection signal.</a:t>
            </a:r>
            <a:pPr algn="l"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CBD2E2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 Choose the model with the higher macro F1 on the held-out test set.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03995" y="702568"/>
            <a:ext cx="63498" cy="38100"/>
          </a:xfrm>
          <a:prstGeom prst="roundRect">
            <a:avLst>
              <a:gd name="adj" fmla="val 49999"/>
            </a:avLst>
          </a:prstGeom>
          <a:solidFill>
            <a:srgbClr val="C9A468"/>
          </a:solidFill>
          <a:ln/>
        </p:spPr>
      </p:sp>
      <p:sp>
        <p:nvSpPr>
          <p:cNvPr id="7" name="Text 5"/>
          <p:cNvSpPr/>
          <p:nvPr/>
        </p:nvSpPr>
        <p:spPr>
          <a:xfrm>
            <a:off x="8203995" y="974030"/>
            <a:ext cx="3987700" cy="2163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CBD2E2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Why macro F1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03995" y="1298377"/>
            <a:ext cx="3378115" cy="4687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CBD2E2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It rewards a balanced precision-recall trade-off across all three species.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03995" y="1919486"/>
            <a:ext cx="3987700" cy="2163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CBD2E2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Boundary check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03995" y="2243832"/>
            <a:ext cx="3378115" cy="703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CBD2E2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Use confusion matrices to see whether a strong score hides one class being confused more often.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03995" y="3099296"/>
            <a:ext cx="3987700" cy="2163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CBD2E2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Evidence over assumption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03995" y="3423642"/>
            <a:ext cx="3378115" cy="703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CBD2E2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The dashboard makes the winner visible from the actual run; this deck does not invent scores that were not supplied.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09585" y="6472039"/>
            <a:ext cx="2947616" cy="16222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900" spc="108" kern="0" dirty="0">
                <a:solidFill>
                  <a:srgbClr val="9BA8C2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CALDER &amp; VOSS RESEARCH · FY26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164707" y="6472039"/>
            <a:ext cx="1026988" cy="16222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900" spc="108" kern="0" dirty="0">
                <a:solidFill>
                  <a:srgbClr val="9CAED8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673483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2269" y="533400"/>
            <a:ext cx="6959426" cy="210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spc="105" kern="0" dirty="0">
                <a:solidFill>
                  <a:srgbClr val="CBD2E2"/>
                </a:solidFill>
                <a:latin typeface="Libre Franklin SemiBold" pitchFamily="34" charset="0"/>
                <a:ea typeface="Libre Franklin SemiBold" pitchFamily="34" charset="-122"/>
                <a:cs typeface="Libre Franklin SemiBold" pitchFamily="34" charset="-120"/>
              </a:rPr>
              <a:t>INTERACTION · STREAMLIT VERIFICATION LOOP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5232269" y="817066"/>
            <a:ext cx="6400640" cy="967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400" dirty="0">
                <a:solidFill>
                  <a:srgbClr val="F1EFE6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Streamlit turns evaluation into a hands-on check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5232269" y="1968401"/>
            <a:ext cx="6400640" cy="5617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400" dirty="0">
                <a:solidFill>
                  <a:srgbClr val="CBD2E2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The app connects aggregate evaluation to one concrete prediction without pretending that one row proves generalization.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232269" y="2813943"/>
            <a:ext cx="63498" cy="19050"/>
          </a:xfrm>
          <a:prstGeom prst="roundRect">
            <a:avLst>
              <a:gd name="adj" fmla="val 49999"/>
            </a:avLst>
          </a:prstGeom>
          <a:solidFill>
            <a:srgbClr val="C9A468"/>
          </a:solidFill>
          <a:ln/>
        </p:spPr>
      </p:sp>
      <p:sp>
        <p:nvSpPr>
          <p:cNvPr id="7" name="Text 4"/>
          <p:cNvSpPr/>
          <p:nvPr/>
        </p:nvSpPr>
        <p:spPr>
          <a:xfrm>
            <a:off x="5232269" y="3166368"/>
            <a:ext cx="6400640" cy="1657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84480" indent="-284480">
              <a:lnSpc>
                <a:spcPct val="118000"/>
              </a:lnSpc>
              <a:buSzPct val="100000"/>
              <a:buChar char="•"/>
            </a:pPr>
            <a:r>
              <a:rPr lang="en-US" sz="1400" b="1" dirty="0">
                <a:solidFill>
                  <a:srgbClr val="CBD2E2"/>
                </a:solidFill>
                <a:latin typeface="Libre Franklin Bold" pitchFamily="34" charset="0"/>
                <a:ea typeface="Libre Franklin Bold" pitchFamily="34" charset="-122"/>
                <a:cs typeface="Libre Franklin Bold" pitchFamily="34" charset="-120"/>
              </a:rPr>
              <a:t>Select.</a:t>
            </a:r>
            <a:pPr algn="l" marL="284480" indent="-284480">
              <a:lnSpc>
                <a:spcPct val="118000"/>
              </a:lnSpc>
              <a:buSzPct val="100000"/>
              <a:buChar char="•"/>
            </a:pPr>
            <a:r>
              <a:rPr lang="en-US" sz="1400" dirty="0">
                <a:solidFill>
                  <a:srgbClr val="CBD2E2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 Choose a test row or sample input in the app.</a:t>
            </a:r>
            <a:endParaRPr lang="en-US" sz="1400" dirty="0"/>
          </a:p>
          <a:p>
            <a:pPr algn="l" marL="284480" indent="-284480">
              <a:lnSpc>
                <a:spcPct val="118000"/>
              </a:lnSpc>
              <a:buSzPct val="100000"/>
              <a:buChar char="•"/>
            </a:pPr>
            <a:r>
              <a:rPr lang="en-US" sz="1400" b="1" dirty="0">
                <a:solidFill>
                  <a:srgbClr val="CBD2E2"/>
                </a:solidFill>
                <a:latin typeface="Libre Franklin Bold" pitchFamily="34" charset="0"/>
                <a:ea typeface="Libre Franklin Bold" pitchFamily="34" charset="-122"/>
                <a:cs typeface="Libre Franklin Bold" pitchFamily="34" charset="-120"/>
              </a:rPr>
              <a:t>Predict.</a:t>
            </a:r>
            <a:pPr algn="l" marL="284480" indent="-284480">
              <a:lnSpc>
                <a:spcPct val="118000"/>
              </a:lnSpc>
              <a:buSzPct val="100000"/>
              <a:buChar char="•"/>
            </a:pPr>
            <a:r>
              <a:rPr lang="en-US" sz="1400" dirty="0">
                <a:solidFill>
                  <a:srgbClr val="CBD2E2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 Send the four feature values through the same preprocessing and model pipeline.</a:t>
            </a:r>
            <a:endParaRPr lang="en-US" sz="1400" dirty="0"/>
          </a:p>
          <a:p>
            <a:pPr algn="l" marL="284480" indent="-284480">
              <a:lnSpc>
                <a:spcPct val="118000"/>
              </a:lnSpc>
              <a:buSzPct val="100000"/>
              <a:buChar char="•"/>
            </a:pPr>
            <a:r>
              <a:rPr lang="en-US" sz="1400" b="1" dirty="0">
                <a:solidFill>
                  <a:srgbClr val="CBD2E2"/>
                </a:solidFill>
                <a:latin typeface="Libre Franklin Bold" pitchFamily="34" charset="0"/>
                <a:ea typeface="Libre Franklin Bold" pitchFamily="34" charset="-122"/>
                <a:cs typeface="Libre Franklin Bold" pitchFamily="34" charset="-120"/>
              </a:rPr>
              <a:t>Verify.</a:t>
            </a:r>
            <a:pPr algn="l" marL="284480" indent="-284480">
              <a:lnSpc>
                <a:spcPct val="118000"/>
              </a:lnSpc>
              <a:buSzPct val="100000"/>
              <a:buChar char="•"/>
            </a:pPr>
            <a:r>
              <a:rPr lang="en-US" sz="1400" dirty="0">
                <a:solidFill>
                  <a:srgbClr val="CBD2E2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 Compare the predicted species with the known test label.</a:t>
            </a:r>
            <a:endParaRPr lang="en-US" sz="1400" dirty="0"/>
          </a:p>
          <a:p>
            <a:pPr algn="l" marL="284480" indent="-284480">
              <a:lnSpc>
                <a:spcPct val="118000"/>
              </a:lnSpc>
              <a:buSzPct val="100000"/>
              <a:buChar char="•"/>
            </a:pPr>
            <a:r>
              <a:rPr lang="en-US" sz="1400" b="1" dirty="0">
                <a:solidFill>
                  <a:srgbClr val="CBD2E2"/>
                </a:solidFill>
                <a:latin typeface="Libre Franklin Bold" pitchFamily="34" charset="0"/>
                <a:ea typeface="Libre Franklin Bold" pitchFamily="34" charset="-122"/>
                <a:cs typeface="Libre Franklin Bold" pitchFamily="34" charset="-120"/>
              </a:rPr>
              <a:t>Learn.</a:t>
            </a:r>
            <a:pPr algn="l" marL="284480" indent="-284480">
              <a:lnSpc>
                <a:spcPct val="118000"/>
              </a:lnSpc>
              <a:buSzPct val="100000"/>
              <a:buChar char="•"/>
            </a:pPr>
            <a:r>
              <a:rPr lang="en-US" sz="1400" dirty="0">
                <a:solidFill>
                  <a:srgbClr val="CBD2E2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 Connect a single prediction back to the aggregate metrics and confusion matrix.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8534187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50" spc="105" kern="0" dirty="0">
                <a:solidFill>
                  <a:srgbClr val="9CAED8"/>
                </a:solidFill>
                <a:latin typeface="Libre Franklin SemiBold" pitchFamily="34" charset="0"/>
                <a:ea typeface="Libre Franklin SemiBold" pitchFamily="34" charset="-122"/>
                <a:cs typeface="Libre Franklin SemiBold" pitchFamily="34" charset="-120"/>
              </a:rPr>
              <a:t>SCOPE · WHAT THIS DASHBOARD CAN AND CANNOT CLAIM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895945"/>
            <a:ext cx="7924602" cy="19627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4600" dirty="0">
                <a:solidFill>
                  <a:srgbClr val="F1EFE6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Useful as a learning dashboard, not a production claim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609585" y="3042841"/>
            <a:ext cx="7924602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CBD2E2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Iris is small, clean, and intentionally approachable. That makes it a strong teaching surface—and a weak substitute for deployment evidence.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09585" y="4994275"/>
            <a:ext cx="822106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dirty="0">
                <a:solidFill>
                  <a:srgbClr val="9CAED8"/>
                </a:solidFill>
                <a:latin typeface="Libre Franklin SemiBold" pitchFamily="34" charset="0"/>
                <a:ea typeface="Libre Franklin SemiBold" pitchFamily="34" charset="-122"/>
                <a:cs typeface="Libre Franklin SemiBold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99902" y="4962525"/>
            <a:ext cx="2124220" cy="1285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1EFE6"/>
                </a:solidFill>
                <a:latin typeface="Libre Franklin SemiBold" pitchFamily="34" charset="0"/>
                <a:ea typeface="Libre Franklin SemiBold" pitchFamily="34" charset="-122"/>
                <a:cs typeface="Libre Franklin SemiBold" pitchFamily="34" charset="-120"/>
              </a:rPr>
              <a:t>Keep the dataset in context.</a:t>
            </a:r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BD2E2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 It is a compact demonstration, not a representative operating population.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378115" y="4994275"/>
            <a:ext cx="845918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dirty="0">
                <a:solidFill>
                  <a:srgbClr val="9CAED8"/>
                </a:solidFill>
                <a:latin typeface="Libre Franklin SemiBold" pitchFamily="34" charset="0"/>
                <a:ea typeface="Libre Franklin SemiBold" pitchFamily="34" charset="-122"/>
                <a:cs typeface="Libre Franklin SemiBold" pitchFamily="34" charset="-120"/>
              </a:rPr>
              <a:t>02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792244" y="4962525"/>
            <a:ext cx="1973412" cy="1285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1EFE6"/>
                </a:solidFill>
                <a:latin typeface="Libre Franklin SemiBold" pitchFamily="34" charset="0"/>
                <a:ea typeface="Libre Franklin SemiBold" pitchFamily="34" charset="-122"/>
                <a:cs typeface="Libre Franklin SemiBold" pitchFamily="34" charset="-120"/>
              </a:rPr>
              <a:t>Read scores on this split.</a:t>
            </a:r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BD2E2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 High evaluation scores are evidence here, not a guarantee on new populations.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019649" y="4737100"/>
            <a:ext cx="851276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dirty="0">
                <a:solidFill>
                  <a:srgbClr val="9CAED8"/>
                </a:solidFill>
                <a:latin typeface="Libre Franklin SemiBold" pitchFamily="34" charset="0"/>
                <a:ea typeface="Libre Franklin SemiBold" pitchFamily="34" charset="-122"/>
                <a:cs typeface="Libre Franklin SemiBold" pitchFamily="34" charset="-120"/>
              </a:rPr>
              <a:t>03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39136" y="4705350"/>
            <a:ext cx="2095051" cy="154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1EFE6"/>
                </a:solidFill>
                <a:latin typeface="Libre Franklin SemiBold" pitchFamily="34" charset="0"/>
                <a:ea typeface="Libre Franklin SemiBold" pitchFamily="34" charset="-122"/>
                <a:cs typeface="Libre Franklin SemiBold" pitchFamily="34" charset="-120"/>
              </a:rPr>
              <a:t>Earn production confidence.</a:t>
            </a:r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BD2E2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 Validate representative data, monitor drift, test failure modes, and document the operating context.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9753356" y="4082653"/>
            <a:ext cx="63498" cy="38100"/>
          </a:xfrm>
          <a:prstGeom prst="roundRect">
            <a:avLst>
              <a:gd name="adj" fmla="val 49999"/>
            </a:avLst>
          </a:prstGeom>
          <a:solidFill>
            <a:srgbClr val="C9A468"/>
          </a:solidFill>
          <a:ln/>
        </p:spPr>
      </p:sp>
      <p:sp>
        <p:nvSpPr>
          <p:cNvPr id="12" name="Text 10"/>
          <p:cNvSpPr/>
          <p:nvPr/>
        </p:nvSpPr>
        <p:spPr>
          <a:xfrm>
            <a:off x="9753356" y="4454128"/>
            <a:ext cx="2438339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spc="21" kern="0" dirty="0">
                <a:solidFill>
                  <a:srgbClr val="AAB5CB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Final read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9753356" y="4968478"/>
            <a:ext cx="1828754" cy="1279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1800" dirty="0">
                <a:solidFill>
                  <a:srgbClr val="F1EFE6"/>
                </a:solidFill>
                <a:latin typeface="Libre Franklin SemiBold" pitchFamily="34" charset="0"/>
                <a:ea typeface="Libre Franklin SemiBold" pitchFamily="34" charset="-122"/>
                <a:cs typeface="Libre Franklin SemiBold" pitchFamily="34" charset="-120"/>
              </a:rPr>
              <a:t>Compare openly. Inspect errors. Keep the claim proportional to the evidence.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3244769" y="3748881"/>
            <a:ext cx="12700" cy="2499519"/>
          </a:xfrm>
          <a:prstGeom prst="rect">
            <a:avLst/>
          </a:prstGeom>
          <a:solidFill>
            <a:srgbClr val="2D3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5886303" y="3748881"/>
            <a:ext cx="12700" cy="2499519"/>
          </a:xfrm>
          <a:prstGeom prst="rect">
            <a:avLst/>
          </a:prstGeom>
          <a:solidFill>
            <a:srgbClr val="2D3A5E"/>
          </a:solidFill>
          <a:ln/>
        </p:spPr>
      </p:sp>
      <p:sp>
        <p:nvSpPr>
          <p:cNvPr id="16" name="Shape 14"/>
          <p:cNvSpPr/>
          <p:nvPr/>
        </p:nvSpPr>
        <p:spPr>
          <a:xfrm>
            <a:off x="9137421" y="0"/>
            <a:ext cx="12700" cy="6858000"/>
          </a:xfrm>
          <a:prstGeom prst="rect">
            <a:avLst/>
          </a:prstGeom>
          <a:solidFill>
            <a:srgbClr val="2D3A5E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2026-09-09T17:43:33Z</dcterms:created>
  <dcterms:modified xsi:type="dcterms:W3CDTF">2026-09-09T17:43:33Z</dcterms:modified>
</cp:coreProperties>
</file>