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Spectral Light"/>
      <p:regular r:id="rId201314"/>
    </p:embeddedFont>
    <p:embeddedFont>
      <p:font typeface="Spectral Medium"/>
      <p:regular r:id="rId201315"/>
    </p:embeddedFont>
    <p:embeddedFont>
      <p:font typeface="Spectral SemiBold"/>
      <p:regular r:id="rId201316"/>
    </p:embeddedFont>
    <p:embeddedFont>
      <p:font typeface="Work Sans Medium"/>
      <p:regular r:id="rId201317"/>
    </p:embeddedFont>
    <p:embeddedFont>
      <p:font typeface="Work Sans"/>
      <p:regular r:id="rId201318"/>
    </p:embeddedFont>
    <p:embeddedFont>
      <p:font typeface="Work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0400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D5D3CC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DATA ANALYSIS · PREDICTION SYSTEM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1008360"/>
            <a:ext cx="10769331" cy="3127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0" spc="-76" kern="0" dirty="0">
                <a:solidFill>
                  <a:srgbClr val="25292A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Student Performance</a:t>
            </a:r>
            <a:endParaRPr lang="en-US" sz="7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7600" spc="-76" kern="0" dirty="0">
                <a:solidFill>
                  <a:srgbClr val="CF673C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Analysis &amp; Prediction System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711182" y="4446687"/>
            <a:ext cx="10769331" cy="19050"/>
          </a:xfrm>
          <a:prstGeom prst="roundRect">
            <a:avLst>
              <a:gd name="adj" fmla="val 49999"/>
            </a:avLst>
          </a:prstGeom>
          <a:solidFill>
            <a:srgbClr val="7D817E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4751487"/>
            <a:ext cx="11378915" cy="324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50" dirty="0">
                <a:solidFill>
                  <a:srgbClr val="25292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Predicting final exam scores from study habits, attendance, and background factors.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11182" y="5984280"/>
            <a:ext cx="1137891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D5D3C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Realistic dataset · cleaning · EDA · regression · evaluation · limitations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772642"/>
            <a:ext cx="449062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666864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PROBLEM FRAME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2120602"/>
            <a:ext cx="3881043" cy="824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8E713E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Final exam score is the outcome to explain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1182" y="3212207"/>
            <a:ext cx="3881043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Analyze student performance and predict a meaningful outcome from structured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1182" y="4226818"/>
            <a:ext cx="3881043" cy="19050"/>
          </a:xfrm>
          <a:prstGeom prst="roundRect">
            <a:avLst>
              <a:gd name="adj" fmla="val 49999"/>
            </a:avLst>
          </a:prstGeom>
          <a:solidFill>
            <a:srgbClr val="6A6F78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4709418"/>
            <a:ext cx="3881043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66686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continuous target calls for regression, not classification.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150912" y="0"/>
            <a:ext cx="7040783" cy="6858000"/>
          </a:xfrm>
          <a:custGeom>
            <a:avLst/>
            <a:gdLst/>
            <a:ahLst/>
            <a:cxnLst/>
            <a:rect l="l" t="t" r="r" b="b"/>
            <a:pathLst>
              <a:path w="7040783" h="6858000">
                <a:moveTo>
                  <a:pt x="0" y="0"/>
                </a:moveTo>
                <a:lnTo>
                  <a:pt x="7031258" y="0"/>
                </a:lnTo>
                <a:arcTo hR="9525" wR="9525" stAng="16200000" swAng="5400000"/>
                <a:lnTo>
                  <a:pt x="7040783" y="6848475"/>
                </a:lnTo>
                <a:arcTo hR="9525" wR="9525" stAng="0" swAng="5400000"/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7F2E9"/>
          </a:solidFill>
          <a:ln/>
        </p:spPr>
      </p:sp>
      <p:sp>
        <p:nvSpPr>
          <p:cNvPr id="8" name="Text 6"/>
          <p:cNvSpPr/>
          <p:nvPr/>
        </p:nvSpPr>
        <p:spPr>
          <a:xfrm>
            <a:off x="5379506" y="1846957"/>
            <a:ext cx="6710591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6A552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TARGET VARIABLE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79506" y="2194917"/>
            <a:ext cx="6101007" cy="178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0" spc="-130" kern="0" dirty="0">
                <a:solidFill>
                  <a:srgbClr val="6A552F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0–100</a:t>
            </a:r>
            <a:endParaRPr lang="en-US" sz="13000" dirty="0"/>
          </a:p>
        </p:txBody>
      </p:sp>
      <p:sp>
        <p:nvSpPr>
          <p:cNvPr id="10" name="Text 8"/>
          <p:cNvSpPr/>
          <p:nvPr/>
        </p:nvSpPr>
        <p:spPr>
          <a:xfrm>
            <a:off x="5379506" y="4219277"/>
            <a:ext cx="6101007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i="1" dirty="0">
                <a:solidFill>
                  <a:srgbClr val="6A552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final_exam_score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379506" y="4786313"/>
            <a:ext cx="6710591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Problem type: </a:t>
            </a:r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6A552F"/>
                </a:solidFill>
                <a:latin typeface="Work Sans Bold" pitchFamily="34" charset="0"/>
                <a:ea typeface="Work Sans Bold" pitchFamily="34" charset="-122"/>
                <a:cs typeface="Work Sans Bold" pitchFamily="34" charset="-120"/>
              </a:rPr>
              <a:t>regression, not classification.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02033" y="6464598"/>
            <a:ext cx="789662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8E713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666864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DATASET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7560"/>
            <a:ext cx="10972526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8E713E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812 synthetic records make the workflow testable end to end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1636713"/>
            <a:ext cx="7365816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Dataset built to resemble a realistic institutional survey export. The data is synthetic because no real student data was available; it was generated with realistic, mostly linear relationships so the full workflow could be demonstrated.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717304"/>
            <a:ext cx="5333867" cy="2518668"/>
          </a:xfrm>
          <a:prstGeom prst="rect">
            <a:avLst/>
          </a:prstGeom>
          <a:solidFill>
            <a:srgbClr val="F7F2E9"/>
          </a:solidFill>
          <a:ln w="6350">
            <a:solidFill>
              <a:srgbClr val="6A6F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5328" y="2952254"/>
            <a:ext cx="5371966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25292A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ACADEMIC AND BEHAVIORAL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5328" y="3347839"/>
            <a:ext cx="4762381" cy="1653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292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study hours/week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292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attendance rate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292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previous grade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292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sleep hours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292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extracurricular count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292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study group participation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8244" y="2717304"/>
            <a:ext cx="5333867" cy="2518668"/>
          </a:xfrm>
          <a:prstGeom prst="rect">
            <a:avLst/>
          </a:prstGeom>
          <a:solidFill>
            <a:srgbClr val="F7F2E9"/>
          </a:solidFill>
          <a:ln w="6350">
            <a:solidFill>
              <a:srgbClr val="6A6F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3987" y="2952254"/>
            <a:ext cx="5371966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25292A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33987" y="3347839"/>
            <a:ext cx="4762381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292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part-time job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292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internet access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292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parental education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3987" y="4787702"/>
            <a:ext cx="537196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25292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Synthetic inputs preserve a complete, testable workflow.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04017" y="6464598"/>
            <a:ext cx="78767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8E713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custGeom>
            <a:avLst/>
            <a:gdLst/>
            <a:ahLst/>
            <a:cxnLst/>
            <a:rect l="l" t="t" r="r" b="b"/>
            <a:pathLst>
              <a:path w="6095848" h="6858000">
                <a:moveTo>
                  <a:pt x="9525" y="0"/>
                </a:moveTo>
                <a:lnTo>
                  <a:pt x="6095848" y="0"/>
                </a:lnTo>
                <a:lnTo>
                  <a:pt x="6095848" y="6858000"/>
                </a:lnTo>
                <a:lnTo>
                  <a:pt x="9525" y="6858000"/>
                </a:lnTo>
                <a:arcTo hR="9525" wR="9525" stAng="5400000" swAng="5400000"/>
                <a:lnTo>
                  <a:pt x="0" y="9525"/>
                </a:lnTo>
                <a:arcTo hR="9525" wR="9525" stAng="10800000" swAng="5400000"/>
                <a:close/>
              </a:path>
            </a:pathLst>
          </a:custGeom>
          <a:solidFill>
            <a:srgbClr val="25292A"/>
          </a:solidFill>
          <a:ln/>
        </p:spPr>
      </p:sp>
      <p:sp>
        <p:nvSpPr>
          <p:cNvPr id="3" name="Text 1"/>
          <p:cNvSpPr/>
          <p:nvPr/>
        </p:nvSpPr>
        <p:spPr>
          <a:xfrm>
            <a:off x="711182" y="912019"/>
            <a:ext cx="5638659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D5D3CC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CLEANING RESULT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1182" y="1259979"/>
            <a:ext cx="5029074" cy="356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0" spc="-130" kern="0" dirty="0">
                <a:solidFill>
                  <a:srgbClr val="D5D3CC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812</a:t>
            </a:r>
            <a:endParaRPr lang="en-US" sz="13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3000" spc="-130" kern="0" dirty="0">
                <a:solidFill>
                  <a:srgbClr val="D87346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→ 800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711182" y="5067399"/>
            <a:ext cx="5029074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D5D3CC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usable rows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1182" y="5746552"/>
            <a:ext cx="5638659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D5D3C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Cleaning reduced 812 raw rows to 800 usable rows.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51439" y="660400"/>
            <a:ext cx="5638659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25292A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EVIDENCE LEDGER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51439" y="1141710"/>
            <a:ext cx="5638659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292A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12 exact duplicates removed.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51439" y="1874441"/>
            <a:ext cx="5029074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292A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Missing values imputed: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292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attendance_rate (32), sleep_hours (40), parental_education (24), previous_grade (16).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51439" y="3158232"/>
            <a:ext cx="5029074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292A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Rules: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292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median for numeric columns, mode for the categorical column.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51439" y="4166493"/>
            <a:ext cx="5029074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292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Missingness looked scattered and random, not tied to a subgroup.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51439" y="1639491"/>
            <a:ext cx="5029074" cy="1270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13" name="Shape 11"/>
          <p:cNvSpPr/>
          <p:nvPr/>
        </p:nvSpPr>
        <p:spPr>
          <a:xfrm>
            <a:off x="6451439" y="2923282"/>
            <a:ext cx="5029074" cy="1270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14" name="Shape 12"/>
          <p:cNvSpPr/>
          <p:nvPr/>
        </p:nvSpPr>
        <p:spPr>
          <a:xfrm>
            <a:off x="6451439" y="3931543"/>
            <a:ext cx="5029074" cy="1270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15" name="Text 13"/>
          <p:cNvSpPr/>
          <p:nvPr/>
        </p:nvSpPr>
        <p:spPr>
          <a:xfrm>
            <a:off x="11398064" y="6464598"/>
            <a:ext cx="793631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8E713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666864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EXPLORATORY DATA ANALYSIS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7560"/>
            <a:ext cx="10972526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8E713E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Final scores are varied, but broadly bell-shaped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1890712"/>
            <a:ext cx="3428914" cy="63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spc="-46" kern="0" dirty="0">
                <a:solidFill>
                  <a:srgbClr val="8E713E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≈ 67.7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09585" y="2788345"/>
            <a:ext cx="403849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66686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Mean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495688" y="1890712"/>
            <a:ext cx="3200320" cy="63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spc="-46" kern="0" dirty="0">
                <a:solidFill>
                  <a:srgbClr val="8E713E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≈ 9.8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495688" y="2788345"/>
            <a:ext cx="380990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66686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Standard deviation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153196" y="1890712"/>
            <a:ext cx="3428914" cy="63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spc="-46" kern="0" dirty="0">
                <a:solidFill>
                  <a:srgbClr val="8E713E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38–100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153196" y="2788345"/>
            <a:ext cx="403849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66686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Range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9585" y="3446165"/>
            <a:ext cx="10972526" cy="1598216"/>
          </a:xfrm>
          <a:prstGeom prst="rect">
            <a:avLst/>
          </a:prstGeom>
          <a:solidFill>
            <a:srgbClr val="F7F2E9"/>
          </a:solidFill>
          <a:ln w="6350">
            <a:solidFill>
              <a:srgbClr val="6A6F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5328" y="3681115"/>
            <a:ext cx="1101062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25292A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FIGURE PLACEHOLDER · NOTEBOOK / REPORT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95328" y="4029075"/>
            <a:ext cx="10401040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25292A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final_exam_score histogram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95328" y="4596110"/>
            <a:ext cx="1101062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25292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Insert the final_exam_score histogram here. Bins and counts intentionally not fabricated.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585" y="528568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66686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Realistic variance gives the model a meaningful prediction task.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02826" y="6464598"/>
            <a:ext cx="788869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8E713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0400"/>
            <a:ext cx="7101702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666864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FEATURE RELATIONSHIPS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1008360"/>
            <a:ext cx="6492117" cy="824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8E713E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Previous grade and study time point to a linear signal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11182" y="2099965"/>
            <a:ext cx="6492117" cy="1699816"/>
          </a:xfrm>
          <a:prstGeom prst="rect">
            <a:avLst/>
          </a:prstGeom>
          <a:solidFill>
            <a:srgbClr val="F7F2E9"/>
          </a:solidFill>
          <a:ln w="6350">
            <a:solidFill>
              <a:srgbClr val="6A6F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24" y="2385715"/>
            <a:ext cx="647941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6A552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FIGURE PLACEHOLDER · NOTEBOOK / REPORT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22324" y="2733675"/>
            <a:ext cx="5869833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6A552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Feature correlation heatmap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22324" y="3300710"/>
            <a:ext cx="647941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Insert the correlation heatmap here. Cell values intentionally not fabricated.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117577" y="660400"/>
            <a:ext cx="397252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666864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READING THE FIGURE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17577" y="1008360"/>
            <a:ext cx="3362935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8E713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Two strongest signals.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117577" y="1797645"/>
            <a:ext cx="3362935" cy="19050"/>
          </a:xfrm>
          <a:prstGeom prst="roundRect">
            <a:avLst>
              <a:gd name="adj" fmla="val 49999"/>
            </a:avLst>
          </a:prstGeom>
          <a:solidFill>
            <a:srgbClr val="6A6F78"/>
          </a:solidFill>
          <a:ln/>
        </p:spPr>
      </p:sp>
      <p:sp>
        <p:nvSpPr>
          <p:cNvPr id="11" name="Text 9"/>
          <p:cNvSpPr/>
          <p:nvPr/>
        </p:nvSpPr>
        <p:spPr>
          <a:xfrm>
            <a:off x="8117577" y="2194520"/>
            <a:ext cx="3362935" cy="208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previous_grade and study_hours_per_week have the clearest positive relationships with final_exam_score.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Both relationships look roughly linear, which directly supports the model choice on the next slide.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399255" y="6464598"/>
            <a:ext cx="792440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8E713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666864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MODEL CHOICE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7560"/>
            <a:ext cx="10972526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8E713E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Linear Regression fits the signal and keeps the reasoning visible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1865312"/>
            <a:ext cx="337811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8E713E"/>
                </a:solidFill>
                <a:latin typeface="Spectral Medium" pitchFamily="34" charset="0"/>
                <a:ea typeface="Spectral Medium" pitchFamily="34" charset="-122"/>
                <a:cs typeface="Spectral Medium" pitchFamily="34" charset="-120"/>
              </a:rPr>
              <a:t>Linear signal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343448"/>
            <a:ext cx="3378115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key predictors are roughly linear and additive.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46486" y="1865312"/>
            <a:ext cx="309872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8E713E"/>
                </a:solidFill>
                <a:latin typeface="Spectral Medium" pitchFamily="34" charset="0"/>
                <a:ea typeface="Spectral Medium" pitchFamily="34" charset="-122"/>
                <a:cs typeface="Spectral Medium" pitchFamily="34" charset="-120"/>
              </a:rPr>
              <a:t>One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46486" y="2343448"/>
            <a:ext cx="3098722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One Linear Regression model trained on standardized features.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03995" y="1865312"/>
            <a:ext cx="337811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8E713E"/>
                </a:solidFill>
                <a:latin typeface="Spectral Medium" pitchFamily="34" charset="0"/>
                <a:ea typeface="Spectral Medium" pitchFamily="34" charset="-122"/>
                <a:cs typeface="Spectral Medium" pitchFamily="34" charset="-120"/>
              </a:rPr>
              <a:t>Visible reasoning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03995" y="2343448"/>
            <a:ext cx="3378115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 prediction traces back to one coefficient per feature.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585" y="3567609"/>
            <a:ext cx="584185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spc="21" kern="0" dirty="0">
                <a:solidFill>
                  <a:srgbClr val="666864"/>
                </a:solidFill>
                <a:latin typeface="Work Sans Bold" pitchFamily="34" charset="0"/>
                <a:ea typeface="Work Sans Bold" pitchFamily="34" charset="-122"/>
                <a:cs typeface="Work Sans Bold" pitchFamily="34" charset="-120"/>
              </a:rPr>
              <a:t>Why it matters:</a:t>
            </a:r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66686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teachers and advisors need to trust why, not just what.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49841" y="3567609"/>
            <a:ext cx="584185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spc="21" kern="0" dirty="0">
                <a:solidFill>
                  <a:srgbClr val="666864"/>
                </a:solidFill>
                <a:latin typeface="Work Sans Bold" pitchFamily="34" charset="0"/>
                <a:ea typeface="Work Sans Bold" pitchFamily="34" charset="-122"/>
                <a:cs typeface="Work Sans Bold" pitchFamily="34" charset="-120"/>
              </a:rPr>
              <a:t>Evaluation design:</a:t>
            </a:r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66686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80/20 train/test split.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60743" y="1636713"/>
            <a:ext cx="12700" cy="1486396"/>
          </a:xfrm>
          <a:prstGeom prst="rect">
            <a:avLst/>
          </a:prstGeom>
          <a:solidFill>
            <a:srgbClr val="6A6F78"/>
          </a:solidFill>
          <a:ln/>
        </p:spPr>
      </p:sp>
      <p:sp>
        <p:nvSpPr>
          <p:cNvPr id="13" name="Shape 11"/>
          <p:cNvSpPr/>
          <p:nvPr/>
        </p:nvSpPr>
        <p:spPr>
          <a:xfrm>
            <a:off x="7918252" y="1636713"/>
            <a:ext cx="12700" cy="1486396"/>
          </a:xfrm>
          <a:prstGeom prst="rect">
            <a:avLst/>
          </a:prstGeom>
          <a:solidFill>
            <a:srgbClr val="6A6F78"/>
          </a:solidFill>
          <a:ln/>
        </p:spPr>
      </p:sp>
      <p:sp>
        <p:nvSpPr>
          <p:cNvPr id="14" name="Text 12"/>
          <p:cNvSpPr/>
          <p:nvPr/>
        </p:nvSpPr>
        <p:spPr>
          <a:xfrm>
            <a:off x="11405902" y="6464598"/>
            <a:ext cx="785793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8E713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666864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7560"/>
            <a:ext cx="10972526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8E713E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The model misses by about 5–6 points on average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1636713"/>
            <a:ext cx="3428914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52" kern="0" dirty="0">
                <a:solidFill>
                  <a:srgbClr val="A84D24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5.77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09585" y="2563813"/>
            <a:ext cx="403849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66686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MAE · average miss in points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495688" y="1636713"/>
            <a:ext cx="320032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52" kern="0" dirty="0">
                <a:solidFill>
                  <a:srgbClr val="8E713E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7.10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495688" y="2563813"/>
            <a:ext cx="380990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66686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RMSE · penalizes big misses more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153196" y="1636713"/>
            <a:ext cx="3428914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52" kern="0" dirty="0">
                <a:solidFill>
                  <a:srgbClr val="8E713E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0.394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153196" y="2563813"/>
            <a:ext cx="403849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66686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R² · share of score variation explained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9585" y="3018433"/>
            <a:ext cx="5333867" cy="1598216"/>
          </a:xfrm>
          <a:prstGeom prst="rect">
            <a:avLst/>
          </a:prstGeom>
          <a:solidFill>
            <a:srgbClr val="F7F2E9"/>
          </a:solidFill>
          <a:ln w="6350">
            <a:solidFill>
              <a:srgbClr val="6A6F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5328" y="3253383"/>
            <a:ext cx="5371966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25292A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FIGURE PLACEHOLDER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95328" y="3601343"/>
            <a:ext cx="4762381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25292A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Actual-vs-predicted scatter plot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95328" y="4168378"/>
            <a:ext cx="537196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25292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Show points near the diagonal without fabricating points.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48244" y="3018433"/>
            <a:ext cx="5333867" cy="1598216"/>
          </a:xfrm>
          <a:prstGeom prst="rect">
            <a:avLst/>
          </a:prstGeom>
          <a:solidFill>
            <a:srgbClr val="F7F2E9"/>
          </a:solidFill>
          <a:ln w="6350">
            <a:solidFill>
              <a:srgbClr val="6A6F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3987" y="3253383"/>
            <a:ext cx="5371966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25292A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FIGURE PLACEHOLDER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3987" y="3601343"/>
            <a:ext cx="4762381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25292A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Residual plot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533987" y="4168378"/>
            <a:ext cx="537196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25292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Show residuals scattered around zero without fabricating residuals.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60743" y="1636713"/>
            <a:ext cx="12700" cy="114042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19" name="Shape 17"/>
          <p:cNvSpPr/>
          <p:nvPr/>
        </p:nvSpPr>
        <p:spPr>
          <a:xfrm>
            <a:off x="7918252" y="1636713"/>
            <a:ext cx="12700" cy="114042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20" name="Text 18"/>
          <p:cNvSpPr/>
          <p:nvPr/>
        </p:nvSpPr>
        <p:spPr>
          <a:xfrm>
            <a:off x="11398362" y="6464598"/>
            <a:ext cx="793333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8E713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0400"/>
            <a:ext cx="67969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666864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INTERPRETABILITY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1008360"/>
            <a:ext cx="6187325" cy="824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8E713E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The model explains itself through a ranked coefficient story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11182" y="2099965"/>
            <a:ext cx="6187325" cy="1862336"/>
          </a:xfrm>
          <a:prstGeom prst="rect">
            <a:avLst/>
          </a:prstGeom>
          <a:solidFill>
            <a:srgbClr val="F7F2E9"/>
          </a:solidFill>
          <a:ln w="6350">
            <a:solidFill>
              <a:srgbClr val="6A6F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25" y="2360315"/>
            <a:ext cx="6225424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25292A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FIGURE PLACEHOLDER · NOTEBOOK / REPORT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96925" y="2708275"/>
            <a:ext cx="5615839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25292A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Standardized-coefficient bar chart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96925" y="3275310"/>
            <a:ext cx="5615839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25292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Insert the coefficient influence chart here. Smaller effects have no supplied values and are not fabricated.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55596" y="660400"/>
            <a:ext cx="4124817" cy="2239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6A552F"/>
                </a:solidFill>
                <a:latin typeface="Work Sans Bold" pitchFamily="34" charset="0"/>
                <a:ea typeface="Work Sans Bold" pitchFamily="34" charset="-122"/>
                <a:cs typeface="Work Sans Bold" pitchFamily="34" charset="-120"/>
              </a:rPr>
              <a:t>previous_grade (+4.52)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and 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6A552F"/>
                </a:solidFill>
                <a:latin typeface="Work Sans Bold" pitchFamily="34" charset="0"/>
                <a:ea typeface="Work Sans Bold" pitchFamily="34" charset="-122"/>
                <a:cs typeface="Work Sans Bold" pitchFamily="34" charset="-120"/>
              </a:rPr>
              <a:t>study_hours_per_week (+3.89)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are the strongest positive drivers.</a:t>
            </a:r>
            <a:endParaRPr lang="en-US" sz="1400" dirty="0"/>
          </a:p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attendance_rate (+1.72) and parental_education (+1.65) follow.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part_time_job (−0.58) is the only clearly negative influence.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55596" y="3055838"/>
            <a:ext cx="4124817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66686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sleep_hours, study_group, extracurricular_count, and internet_access contribute smaller secondary effects.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398659" y="6464598"/>
            <a:ext cx="793036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8E713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666864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LIMITATIONS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7560"/>
            <a:ext cx="10972526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8E713E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Six limitations keep the result honest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1823343"/>
            <a:ext cx="1072528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B8B2A8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50323" y="1763713"/>
            <a:ext cx="4693128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Synthetic data does not reflect a real institution’s population.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2628404"/>
            <a:ext cx="1072528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B8B2A8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250323" y="2568773"/>
            <a:ext cx="4693128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Median/mode imputation assumes missingness is random, which may not hold.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585" y="3433465"/>
            <a:ext cx="1072528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B8B2A8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250323" y="3373834"/>
            <a:ext cx="4693128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Linear Regression cannot capture non-linear effects, such as a possible sleep “sweet spot.”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48244" y="1961059"/>
            <a:ext cx="1072528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B8B2A8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888982" y="1763713"/>
            <a:ext cx="4693128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R² of 0.394 means over half the variation is unexplained; test difficulty, motivation, mental health, and other factors are not captured.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48244" y="3041650"/>
            <a:ext cx="1072528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B8B2A8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888982" y="2844304"/>
            <a:ext cx="4693128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Correlation is not causation. Do not read the coefficients as “study X more hours and gain Y points.”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48244" y="3924895"/>
            <a:ext cx="1072528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B8B2A8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88982" y="3924895"/>
            <a:ext cx="5302713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6A552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Results come from a single train/test split.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585" y="2435423"/>
            <a:ext cx="5333867" cy="1270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3240484"/>
            <a:ext cx="5333867" cy="1270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8244" y="2710954"/>
            <a:ext cx="5333867" cy="1270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8244" y="3791545"/>
            <a:ext cx="5333867" cy="1270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20" name="Text 18"/>
          <p:cNvSpPr/>
          <p:nvPr/>
        </p:nvSpPr>
        <p:spPr>
          <a:xfrm>
            <a:off x="11423166" y="6464598"/>
            <a:ext cx="768529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8E713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2026-09-15T08:00:28Z</dcterms:created>
  <dcterms:modified xsi:type="dcterms:W3CDTF">2026-09-15T08:00:28Z</dcterms:modified>
</cp:coreProperties>
</file>